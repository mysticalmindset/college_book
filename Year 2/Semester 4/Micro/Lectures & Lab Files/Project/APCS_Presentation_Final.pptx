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7772400" cy="10058400"/>
  <p:embeddedFontLst>
    <p:embeddedFont>
      <p:font typeface="Average"/>
      <p:regular r:id="rId17"/>
      <p:bold r:id="rId17"/>
    </p:embeddedFont>
    <p:embeddedFont>
      <p:font typeface="Oswald"/>
      <p:regular r:id="rId18"/>
      <p:bold r:id="rId19"/>
      <p:italic r:id="rId19"/>
    </p:embeddedFont>
    <p:embeddedFont>
      <p:font typeface="Microsoft YaHei"/>
      <p:regular r:id="rId20"/>
    </p:embeddedFont>
    <p:embeddedFont>
      <p:font typeface="Lucida Sans"/>
      <p:regular r:id="rId21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font" Target="fonts/Font_1_Average_Regular.fntdata"/><Relationship Id="rId18" Type="http://schemas.openxmlformats.org/officeDocument/2006/relationships/font" Target="fonts/Font_2_Oswald_Regular.fntdata"/><Relationship Id="rId19" Type="http://schemas.openxmlformats.org/officeDocument/2006/relationships/font" Target="fonts/Font_3_Oswald_Bold.fntdata"/><Relationship Id="rId20" Type="http://schemas.openxmlformats.org/officeDocument/2006/relationships/font" Target="fonts/Font_4_Microsoft_YaHei_Regular.fntdata"/><Relationship Id="rId21" Type="http://schemas.openxmlformats.org/officeDocument/2006/relationships/font" Target="fonts/Font_5_Lucida_Sans_Regular.fntdata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71400" y="1542600"/>
            <a:ext cx="78008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3B70761-830B-486B-AF6C-E2544459BCB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0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" name="Google Shape;41;p9"/>
          <p:cNvCxnSpPr/>
          <p:nvPr/>
        </p:nvCxnSpPr>
        <p:spPr>
          <a:xfrm>
            <a:off x="5029560" y="4495320"/>
            <a:ext cx="469080" cy="720"/>
          </a:xfrm>
          <a:prstGeom prst="straightConnector1">
            <a:avLst/>
          </a:prstGeom>
          <a:ln w="19050">
            <a:solidFill>
              <a:srgbClr val="37474f"/>
            </a:solidFill>
            <a:round/>
          </a:ln>
        </p:spPr>
      </p:cxn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65680" y="1081440"/>
            <a:ext cx="4044600" cy="170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6160" cy="369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5574CA-9792-452C-B141-065344EF06A4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7960" cy="60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118BCC-9291-4D65-8196-EA1701A005CF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1255320"/>
            <a:ext cx="8519760" cy="189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12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en-CA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3228480"/>
            <a:ext cx="8519760" cy="12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4389DA-0642-4B1C-8967-80C7EE654AE5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ldNum" idx="5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7CC0DD-C5C9-441C-BC56-0E90BBC3F934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71400" y="2141280"/>
            <a:ext cx="7851600" cy="86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6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5B73A2-A735-4F1E-AAD5-0C26BCB2124E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7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E77D8F-1C9C-4369-9E5D-4BACB540519C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8BA573-1C6B-4A8C-A0F1-455D7F588B89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8B52EF-2813-4E98-9901-A21B765FE70F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280" cy="7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280" cy="31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C407A1-3B58-4B67-9A3F-156EFE9CB306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90320" y="526320"/>
            <a:ext cx="6226560" cy="408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CA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lt1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E6BE73-06D6-4225-9075-2EC032334FD8}" type="slidenum">
              <a:rPr lang="en" sz="1000" b="0" u="none" strike="noStrike">
                <a:solidFill>
                  <a:schemeClr val="lt1"/>
                </a:solidFill>
                <a:effectLst/>
                <a:uFillTx/>
                <a:latin typeface="Average"/>
                <a:ea typeface="Average"/>
              </a:rPr>
              <a:t>&lt;number&gt;</a:t>
            </a:fld>
            <a:endParaRPr lang="en-CA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;p2"/>
          <p:cNvGrpSpPr/>
          <p:nvPr/>
        </p:nvGrpSpPr>
        <p:grpSpPr>
          <a:xfrm>
            <a:off x="4350240" y="2855520"/>
            <a:ext cx="442800" cy="104760"/>
            <a:chOff x="4350240" y="2855520"/>
            <a:chExt cx="442800" cy="104760"/>
          </a:xfrm>
        </p:grpSpPr>
        <p:sp>
          <p:nvSpPr>
            <p:cNvPr id="3" name="Google Shape;11;p2"/>
            <p:cNvSpPr/>
            <p:nvPr/>
          </p:nvSpPr>
          <p:spPr>
            <a:xfrm>
              <a:off x="4519080" y="2855520"/>
              <a:ext cx="104760" cy="10476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080" bIns="37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Google Shape;12;p2"/>
            <p:cNvSpPr/>
            <p:nvPr/>
          </p:nvSpPr>
          <p:spPr>
            <a:xfrm>
              <a:off x="4688280" y="2855520"/>
              <a:ext cx="104760" cy="10476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080" bIns="37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>
              <a:off x="4350240" y="2855520"/>
              <a:ext cx="104760" cy="10476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080" bIns="37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en-CA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71400" y="1717920"/>
            <a:ext cx="78008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CA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4FE8E1-48F7-45CB-BCCC-BFE89569870B}" type="slidenum">
              <a:rPr lang="en" sz="10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1</a:t>
            </a:fld>
            <a:endParaRPr lang="en-CA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CA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CA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CA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C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C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C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CA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C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435400" y="1245600"/>
            <a:ext cx="4185360" cy="153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5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Adaptive Personal Cooling System</a:t>
            </a:r>
            <a:endParaRPr lang="en-CA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1230120" y="3029760"/>
            <a:ext cx="6596280" cy="70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lang="en" sz="156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Luka Miljanov (N01624502) &amp; Michael McCorkell (N01500049) </a:t>
            </a:r>
            <a:endParaRPr lang="en-CA" sz="15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lang="en" sz="156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MENG-2530-0NA, Microcontrollers</a:t>
            </a:r>
            <a:endParaRPr lang="en-CA" sz="15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lang="en" sz="156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April 22, 2026</a:t>
            </a:r>
            <a:endParaRPr lang="en-CA" sz="15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Project Overview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The Problem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Nearly 500,000 deaths annually from hyperthermia; core temps above 40 °C are a medical emergency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Bedridden, elderly, and ill individuals have diminished thermoregulatory responses (sweating, vasodilation)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Standard fixed-speed fans cannot respond dynamically to changing thermal conditions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What is the APCS?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 prototype embedded system that continuously measures ambient temperature and automatically adjusts fan speed via PID control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Built on the TM4C123GH6PM (ARM Cortex-M4F) microcontroller; interfaces DS18B20 sensor, potentiometer, fan, and I²C LCD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Main Objective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Provide automated, responsive personal cooling that adapts in real time — something a conventional fan cannot do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Design Requirements &amp; Goals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Performance Targets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Regulate ambient temperature within ±1–2 °C of the user-selected setpoint (20–60 °C range)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Control loop update rate: ~2 seconds; DS18B20 12-bit resolution (0.0625 °C/step)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Fan response from setpoint change to observable airflow: ≤ 3 seconds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Constraints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Platform: TM4C123GH6PM LaunchPad; toolchain: Keil MDK-ARM with CMSIS device pack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Components: off-the-shelf only (DS18B20, 10 kΩ potentiometer, 4-wire 12 V PC fan, I²C LCD)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Firmware in 8 modular C files; no wireless, no battery, no multi-sensor architecture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Success Criteria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PID controller converges to setpoint, fan operates without stall, LCD provides real-time feedback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System gracefully recovers from sensor loss without requiring a hard reset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Design Process &amp; Architecture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System Block Diagram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Potentiometer → ADC0 Sequencer 3 → Main Loop PID Controller → Soft PWM PB6 → 12 V PC Fan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DS18B20 (1-Wire, PE1) feeds temperature into the PID; I²C LCD (PB2/PB3) shows live status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Firmware Architecture (8 modules)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main.c — control loop; adc.c — potentiometer; ds18b20.c — 1-Wire driver; pwm.c — fan drive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pid.c — discrete PID with anti-windup; lcd.c — I²C display; delay.c — SysTick timing; utils.c — string helpers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"/>
          <p:cNvPicPr/>
          <p:nvPr/>
        </p:nvPicPr>
        <p:blipFill>
          <a:blip r:embed="rId1"/>
          <a:stretch/>
        </p:blipFill>
        <p:spPr>
          <a:xfrm>
            <a:off x="540000" y="2160000"/>
            <a:ext cx="7382160" cy="137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Design Process &amp; Architecture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7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Hardware Design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SolidWorks rail mount bracket for the PC fan; 3D-printed enclosure with removable lid houses LaunchPad, LCD, and wiring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Potentiometer and LCD accessible through front-panel cutout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"/>
          <p:cNvPicPr/>
          <p:nvPr/>
        </p:nvPicPr>
        <p:blipFill>
          <a:blip r:embed="rId1"/>
          <a:srcRect l="9329" t="6997" r="29996" b="12511"/>
          <a:stretch/>
        </p:blipFill>
        <p:spPr>
          <a:xfrm>
            <a:off x="6660000" y="2160000"/>
            <a:ext cx="1471680" cy="260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"/>
          <p:cNvPicPr/>
          <p:nvPr/>
        </p:nvPicPr>
        <p:blipFill>
          <a:blip r:embed="rId2"/>
          <a:srcRect l="6801" t="33510" r="0" b="38478"/>
          <a:stretch/>
        </p:blipFill>
        <p:spPr>
          <a:xfrm>
            <a:off x="720000" y="2769480"/>
            <a:ext cx="5219640" cy="209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Build Process &amp; Components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Key Components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TM4C123GH6PM LaunchPad — 80 MHz ARM Cortex-M4F, 256 KB flash, 32 KB SRAM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Dallas DS18B20 — ±0.5 °C accuracy, 12-bit resolution, 1-Wire interface on PE1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10 kΩ linear potentiometer — maps 0–3.3 V to 20–60 °C setpoint via ADC0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4-wire 12 V PC fan — dedicated PWM input; hardware PWM on PB6 at 25 kHz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16×2 I²C LCD (addr 0x28) — real-time display of temperature, setpoint, and duty cycle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Assembly Steps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Breadboard wiring: DS18B20 on PE1 with 5 kΩ pull-up; potentiometer wiper to PE3; fan PWM to PB6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SolidWorks CAD → 3D-print enclosure → mount LaunchPad, LCD, and fan rail bracket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Compile with Keil MDK-ARM; flash via on-board ICDI debugger; verify heartbeat LED on PF1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Challenges &amp; Problem Solving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" sz="16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1. Push-Button vs. PID Design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Course spec required buttons; continuous potentiometer chosen instead — smoother PID setpoint, better for mobility-limited users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" sz="16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2. DS18B20 Power-On Default (85.0 °C)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Sensor pre-loads 0x0550 at startup; firmware detects sentinel, holds PID at zero until real conversion completes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" sz="16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3. 1-Wire Timing Sensitivity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Reset pulse ≥480 µs; write-1 = 6 µs, write-0 = 60 µs; calibrated delayUs() against logic analyzer for reliable presence detection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" sz="16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4. Fan Stall Below 90% Duty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10 Hz PWM on-time too short at low duty; MIN_DUTY clamped at 90%; 500 ms kick-start at 100% overcomes static inertia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" sz="16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5. ADC Noise on Potentiometer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±5–10 LSB jitter even with 64× hardware oversampling; added 8-sample software average to reduce noise below ±1 LSB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lang="en" sz="16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6. I²C Initialization Order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LCD corruption when I²C0 init ran before SysTick; fixed by calling SysTick_Init() first in main.c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Testing &amp; Results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System Performance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PID converged to within ±1–2 °C of setpoint under steady-state lab conditions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Fan response latency: ~2 seconds (750 ms DS18B20 conversion + 20 × 100 ms PWM cycle)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Kick-start eliminated cold-start stall: 100% success vs. ~60% stall rate without it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Fault Tolerance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Sensor disconnect detected within one loop cycle; fan duty set to zero; re-acquisition automatic upon reconnection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Heartbeat LED toggled every loop pass — no watchdog violations or lockups observed in all test sessions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LCD &amp; Display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Real-time display of current temperature, setpoint, and fan duty % confirmed accurate across full 20–60 °C range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Three status codes: normal operation, no-sensor fault, and startup/converting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Limitations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Minor oscillation due to thermal inertia of air mass and coarse 10 Hz PWM update rate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Live Demonstration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What to Watch For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LCD Line 1: current ambient temperature (from DS18B20) and fan duty % updating in real time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LCD Line 2: setpoint temperature — rotate potentiometer to change target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Fan speed visibly increases as temperature rises above setpoint; slows or stops when below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Demo Steps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1. Power on — observe splash screen, then sensor detection and first reading on LCD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2. Rotate potentiometer to lower setpoint below ambient — fan spins up, duty shown on display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3. Rotate to raise setpoint above ambient — fan slows; observe kick-start on next spin-up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4. Briefly disconnect DS18B20 wire — LCD shows NO SENSOR; reconnect and watch auto-recovery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Backup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Video recording of full demo available if live hardware cannot be presented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Future Improvements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Hardware Upgrades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Replace software PWM with TM4C123GH6PM hardware PWM module (25 kHz) for finer duty resolution and decoupled loop timing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Replace ambient DS18B20 with a skin-contact NTC thermistor patch for direct body temperature monitoring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Add Bluetooth Low Energy (BLE) module for smartphone setpoint control — critical for bedridden users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Software &amp; Control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Implement adaptive PID gain scheduling: larger Kp at high error, smaller near setpoint to reduce oscillation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Add multi-sensor support for zone-based cooling in larger enclosures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Productization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Formal DS18B20 calibration against NIST-traceable reference (prerequisite for clinical deployment)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Battery-powered operation and form-factor miniaturization for wearable/portable applications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30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Conclusion</a:t>
            </a:r>
            <a:endParaRPr lang="en-CA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What Was Built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A fully functional closed-loop personal cooling system on the TM4C123GH6PM using DS18B20, PID, software PWM, and I²C LCD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Firmware organized across 8 modular C source files; compiled with Keil MDK-ARM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Was It Successful?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Yes — PID converged within ±1–2 °C; fan operated without stall; system recovered from sensor faults automatically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Validates PID-based closed-loop control on resource-constrained ARM Cortex-M4 hardware for thermal management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lang="en" sz="1800" b="1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Key Takeaways</a:t>
            </a: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Hands-on experience with 1-Wire protocol, I²C initialization, discrete PID tuning, and motor drive behavior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799"/>
              </a:spcBef>
              <a:buClr>
                <a:srgbClr val="cacaca"/>
              </a:buClr>
              <a:buFont typeface="Average"/>
              <a:buChar char="&amp;"/>
              <a:tabLst>
                <a:tab algn="l" pos="0"/>
              </a:tabLst>
            </a:pPr>
            <a:r>
              <a:rPr lang="en" sz="1600" b="0" u="none" strike="noStrike">
                <a:solidFill>
                  <a:schemeClr val="accent3"/>
                </a:solidFill>
                <a:effectLst/>
                <a:uFillTx/>
                <a:latin typeface="Average"/>
                <a:ea typeface="Average"/>
              </a:rPr>
              <a:t>Prototype establishes a foundation for a medically meaningful personal cooling device with further development</a:t>
            </a:r>
            <a:endParaRPr lang="en-C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lang="en-C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71400" y="990720"/>
            <a:ext cx="7800840" cy="172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8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Questions?</a:t>
            </a:r>
            <a:endParaRPr lang="en-CA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71400" y="1274760"/>
            <a:ext cx="7800840" cy="172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58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Thank You!!</a:t>
            </a:r>
            <a:endParaRPr lang="en-CA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en-CA</dc:language>
  <cp:lastModifiedBy/>
  <cp:lastPrinted>2026-04-21T23:31:08Z</cp:lastPrinted>
  <dcterms:modified xsi:type="dcterms:W3CDTF">2026-04-21T23:28:10Z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